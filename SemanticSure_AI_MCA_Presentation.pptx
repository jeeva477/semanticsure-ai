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RobotoSlab-regular.fntdata"/><Relationship Id="rId22" Type="http://schemas.openxmlformats.org/officeDocument/2006/relationships/font" Target="fonts/RobotoSlab-bold.fntdata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Document Originality &amp; Similarity Analysis System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Student Name: Jeeva P</a:t>
            </a:r>
          </a:p>
          <a:p>
            <a:pPr>
              <a:defRPr sz="1300"/>
            </a:pPr>
            <a:r>
              <a:t>Reg No: 2511022250069</a:t>
            </a:r>
          </a:p>
          <a:p>
            <a:pPr>
              <a:defRPr sz="1300"/>
            </a:pPr>
            <a:r>
              <a:t>Department: Master of Computer Applications (MCA)</a:t>
            </a:r>
          </a:p>
          <a:p>
            <a:pPr>
              <a:defRPr sz="1300"/>
            </a:pPr>
            <a:r>
              <a:t>GitHub Repository: https://github.com/jeeva477/SemanticSure-AI</a:t>
            </a: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Document Originality &amp; Similarity Analysis System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Student Name: Jeeva P</a:t>
            </a:r>
          </a:p>
          <a:p>
            <a:pPr>
              <a:defRPr sz="1300"/>
            </a:pPr>
            <a:r>
              <a:t>Reg No: 2511022250069</a:t>
            </a:r>
          </a:p>
          <a:p>
            <a:pPr>
              <a:defRPr sz="1300"/>
            </a:pPr>
            <a:r>
              <a:t>Department: Master of Computer Applications (MCA)</a:t>
            </a:r>
          </a:p>
          <a:p>
            <a:pPr>
              <a:defRPr sz="1300"/>
            </a:pPr>
            <a:r>
              <a:t>GitHub Repository: https://github.com/jeeva477/SemanticSure-AI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Introduction (Background, Motivation, Scope)</a:t>
            </a:r>
          </a:p>
          <a:p>
            <a:pPr>
              <a:defRPr sz="1300"/>
            </a:pPr>
            <a:r>
              <a:t>2. Problem Statement &amp; Objectives</a:t>
            </a:r>
          </a:p>
          <a:p>
            <a:pPr>
              <a:defRPr sz="1300"/>
            </a:pPr>
            <a:r>
              <a:t>3. Literature Review &amp; Research Gap</a:t>
            </a:r>
          </a:p>
          <a:p>
            <a:pPr>
              <a:defRPr sz="1300"/>
            </a:pPr>
            <a:r>
              <a:t>4. Requirement Analysis (Functional &amp; Non-Functional)</a:t>
            </a:r>
          </a:p>
          <a:p>
            <a:pPr>
              <a:defRPr sz="1300"/>
            </a:pPr>
            <a:r>
              <a:t>5. Methodology &amp; Algorithmic Pipeline</a:t>
            </a:r>
          </a:p>
          <a:p>
            <a:pPr>
              <a:defRPr sz="1300"/>
            </a:pPr>
            <a:r>
              <a:t>6. System Architecture &amp; Workflow</a:t>
            </a:r>
          </a:p>
          <a:p>
            <a:pPr>
              <a:defRPr sz="1300"/>
            </a:pPr>
            <a:r>
              <a:t>7. Technology Stack &amp; Frameworks</a:t>
            </a:r>
          </a:p>
          <a:p>
            <a:pPr>
              <a:defRPr sz="1300"/>
            </a:pPr>
            <a:r>
              <a:t>8. Implementation &amp; Detection Engine</a:t>
            </a:r>
          </a:p>
          <a:p>
            <a:pPr>
              <a:defRPr sz="1300"/>
            </a:pPr>
            <a:r>
              <a:t>9. Results &amp; Discussion</a:t>
            </a:r>
          </a:p>
          <a:p>
            <a:pPr>
              <a:defRPr sz="1300"/>
            </a:pPr>
            <a:r>
              <a:t>10. Future Scope, Conclusion &amp; References</a:t>
            </a: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>
              <a:defRPr sz="1300"/>
            </a:pPr>
            <a:r>
              <a:t>1. Introduction (Background, Motivation, Scope)</a:t>
            </a:r>
          </a:p>
          <a:p>
            <a:pPr>
              <a:defRPr sz="1300"/>
            </a:pPr>
            <a:r>
              <a:t>2. Problem Statement &amp; Objectives</a:t>
            </a:r>
          </a:p>
          <a:p>
            <a:pPr>
              <a:defRPr sz="1300"/>
            </a:pPr>
            <a:r>
              <a:t>3. Literature Review &amp; Research Gap</a:t>
            </a:r>
          </a:p>
          <a:p>
            <a:pPr>
              <a:defRPr sz="1300"/>
            </a:pPr>
            <a:r>
              <a:t>4. Requirement Analysis (Functional &amp; Non-Functional)</a:t>
            </a:r>
          </a:p>
          <a:p>
            <a:pPr>
              <a:defRPr sz="1300"/>
            </a:pPr>
            <a:r>
              <a:t>5. Methodology &amp; Algorithmic Pipeline</a:t>
            </a:r>
          </a:p>
          <a:p>
            <a:pPr>
              <a:defRPr sz="1300"/>
            </a:pPr>
            <a:r>
              <a:t>6. System Architecture &amp; Workflow</a:t>
            </a:r>
          </a:p>
          <a:p>
            <a:pPr>
              <a:defRPr sz="1300"/>
            </a:pPr>
            <a:r>
              <a:t>7. Technology Stack &amp; Frameworks</a:t>
            </a:r>
          </a:p>
          <a:p>
            <a:pPr>
              <a:defRPr sz="1300"/>
            </a:pPr>
            <a:r>
              <a:t>8. Implementation &amp; Detection Engine</a:t>
            </a:r>
          </a:p>
          <a:p>
            <a:pPr>
              <a:defRPr sz="1300"/>
            </a:pPr>
            <a:r>
              <a:t>9. Results &amp; Discussion</a:t>
            </a:r>
          </a:p>
          <a:p>
            <a:pPr>
              <a:defRPr sz="1300"/>
            </a:pPr>
            <a:r>
              <a:t>10. Future Scope, 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Background: Digital document creation has accelerated academic and professional manuscript production, raising concerns over unverified content and automated rewrites.</a:t>
            </a:r>
          </a:p>
          <a:p>
            <a:pPr>
              <a:defRPr sz="1300"/>
            </a:pPr>
            <a:r>
              <a:t>• Motivation: Traditional plagiarism checkers are slow, require external cloud server uploads, and miss paraphrased text structure.</a:t>
            </a:r>
          </a:p>
          <a:p>
            <a:pPr>
              <a:defRPr sz="1300"/>
            </a:pPr>
            <a:r>
              <a:t>• Scope: SemanticSure AI delivers a 100% in-browser, deterministic originality analysis engine evaluating TF-IDF cosine distance, n-gram overlaps, and lexical diversity in ~0ms latency.</a:t>
            </a: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Background: Digital document creation has accelerated academic and professional manuscript production, raising concerns over unverified content and automated rewrites.</a:t>
            </a:r>
          </a:p>
          <a:p>
            <a:pPr>
              <a:defRPr sz="1300"/>
            </a:pPr>
            <a:r>
              <a:t>• Motivation: Traditional plagiarism checkers are slow, require external cloud server uploads, and miss paraphrased text structure.</a:t>
            </a:r>
          </a:p>
          <a:p>
            <a:pPr>
              <a:defRPr sz="1300"/>
            </a:pPr>
            <a:r>
              <a:t>• Scope: SemanticSure AI delivers a 100% in-browser, deterministic originality analysis engine evaluating TF-IDF cosine distance, n-gram overlaps, and lexical diversity in ~0ms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Problem Statement:</a:t>
            </a:r>
          </a:p>
          <a:p>
            <a:pPr>
              <a:defRPr sz="1300"/>
            </a:pPr>
            <a:r>
              <a:t>  - Keyword-only tools are bypassed by simple synonym swaps and structural rephrasing.</a:t>
            </a:r>
          </a:p>
          <a:p>
            <a:pPr>
              <a:defRPr sz="1300"/>
            </a:pPr>
            <a:r>
              <a:t>  - Sending draft manuscripts to cloud servers risks IP leakage.</a:t>
            </a:r>
          </a:p>
          <a:p>
            <a:pPr>
              <a:defRPr sz="1300"/>
            </a:pPr>
            <a:r>
              <a:t>  - Black-box similarity percentages provide no sentence-level proof or actionable revision advice.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Objectives:</a:t>
            </a:r>
          </a:p>
          <a:p>
            <a:pPr>
              <a:defRPr sz="1300"/>
            </a:pPr>
            <a:r>
              <a:t>  - Develop a client-side NLP detection pipeline operating with 0ms latency.</a:t>
            </a:r>
          </a:p>
          <a:p>
            <a:pPr>
              <a:defRPr sz="1300"/>
            </a:pPr>
            <a:r>
              <a:t>  - Combine TF-IDF vector models with Jaccard n-gram phrase matching.</a:t>
            </a:r>
          </a:p>
          <a:p>
            <a:pPr>
              <a:defRPr sz="1300"/>
            </a:pPr>
            <a:r>
              <a:t>  - Provide an interactive Manuscript Inspector with sentence match highlighting.</a:t>
            </a: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Problem Statement:</a:t>
            </a:r>
          </a:p>
          <a:p>
            <a:pPr>
              <a:defRPr sz="1300"/>
            </a:pPr>
            <a:r>
              <a:t>  - Keyword-only tools are bypassed by simple synonym swaps and structural rephrasing.</a:t>
            </a:r>
          </a:p>
          <a:p>
            <a:pPr>
              <a:defRPr sz="1300"/>
            </a:pPr>
            <a:r>
              <a:t>  - Sending draft manuscripts to cloud servers risks IP leakage.</a:t>
            </a:r>
          </a:p>
          <a:p>
            <a:pPr>
              <a:defRPr sz="1300"/>
            </a:pPr>
            <a:r>
              <a:t>  - Black-box similarity percentages provide no sentence-level proof or actionable revision advice.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Objectives:</a:t>
            </a:r>
          </a:p>
          <a:p>
            <a:pPr>
              <a:defRPr sz="1300"/>
            </a:pPr>
            <a:r>
              <a:t>  - Develop a client-side NLP detection pipeline operating with 0ms latency.</a:t>
            </a:r>
          </a:p>
          <a:p>
            <a:pPr>
              <a:defRPr sz="1300"/>
            </a:pPr>
            <a:r>
              <a:t>  - Combine TF-IDF vector models with Jaccard n-gram phrase matching.</a:t>
            </a:r>
          </a:p>
          <a:p>
            <a:pPr>
              <a:defRPr sz="1300"/>
            </a:pPr>
            <a:r>
              <a:t>  - Provide an interactive Manuscript Inspector with sentence match highlighting.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Salton &amp; Buckley (1988) - Vector Space Model for Information Retrieval: Foundational TF-IDF cosine metric used for semantic vector orientation.</a:t>
            </a:r>
          </a:p>
          <a:p>
            <a:pPr>
              <a:defRPr sz="1300"/>
            </a:pPr>
            <a:r>
              <a:t>2. Lyon et al. (2001) - Ferret Plagiarism Checker: N-gram phrase matching for structural duplicate text detection.</a:t>
            </a:r>
          </a:p>
          <a:p>
            <a:pPr>
              <a:defRPr sz="1300"/>
            </a:pPr>
            <a:r>
              <a:t>3. Foltz et al. (1998) - Latent Semantic Analysis in Text Comparison: Demonstrated limitations of keyword matching without semantic weighting.</a:t>
            </a:r>
          </a:p>
          <a:p>
            <a:pPr>
              <a:defRPr sz="1300"/>
            </a:pPr>
            <a:r>
              <a:t>4. Alzahrani et al. (2012) - Plagiarism Detection Survey: Highlighted necessity of combining lexical and structural overlap signals.</a:t>
            </a: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Salton &amp; Buckley (1988) - Vector Space Model for Information Retrieval: Foundational TF-IDF cosine metric used for semantic vector orientation.</a:t>
            </a:r>
          </a:p>
          <a:p>
            <a:pPr>
              <a:defRPr sz="1300"/>
            </a:pPr>
            <a:r>
              <a:t>2. Lyon et al. (2001) - Ferret Plagiarism Checker: N-gram phrase matching for structural duplicate text detection.</a:t>
            </a:r>
          </a:p>
          <a:p>
            <a:pPr>
              <a:defRPr sz="1300"/>
            </a:pPr>
            <a:r>
              <a:t>3. Foltz et al. (1998) - Latent Semantic Analysis in Text Comparison: Demonstrated limitations of keyword matching without semantic weighting.</a:t>
            </a:r>
          </a:p>
          <a:p>
            <a:pPr>
              <a:defRPr sz="1300"/>
            </a:pPr>
            <a:r>
              <a:t>4. Alzahrani et al. (2012) - Plagiarism Detection Survey: Highlighted necessity of combining lexical and structural overlap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Limitations of Current Systems:</a:t>
            </a:r>
          </a:p>
          <a:p>
            <a:pPr>
              <a:defRPr sz="1300"/>
            </a:pPr>
            <a:r>
              <a:t>  - Cloud dependency causes privacy risks and network latency.</a:t>
            </a:r>
          </a:p>
          <a:p>
            <a:pPr>
              <a:defRPr sz="1300"/>
            </a:pPr>
            <a:r>
              <a:t>  - Single-metric checkers produce high false-positive or false-negative rates.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Identified Research Gap:</a:t>
            </a:r>
          </a:p>
          <a:p>
            <a:pPr>
              <a:defRPr sz="1300"/>
            </a:pPr>
            <a:r>
              <a:t>  - Absence of lightweight, deterministic, multi-signal client-side engines that run natively in browser engines without external API dependencies.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Proposed Solution (SemanticSure AI):</a:t>
            </a:r>
          </a:p>
          <a:p>
            <a:pPr>
              <a:defRPr sz="1300"/>
            </a:pPr>
            <a:r>
              <a:t>  - Multi-signal weighted scoring (TF-IDF 40%, Unigram 25%, Bigram 20%, Trigram 15%) executed entirely in-browser.</a:t>
            </a: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Limitations of Current Systems:</a:t>
            </a:r>
          </a:p>
          <a:p>
            <a:pPr>
              <a:defRPr sz="1300"/>
            </a:pPr>
            <a:r>
              <a:t>  - Cloud dependency causes privacy risks and network latency.</a:t>
            </a:r>
          </a:p>
          <a:p>
            <a:pPr>
              <a:defRPr sz="1300"/>
            </a:pPr>
            <a:r>
              <a:t>  - Single-metric checkers produce high false-positive or false-negative rates.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Identified Research Gap:</a:t>
            </a:r>
          </a:p>
          <a:p>
            <a:pPr>
              <a:defRPr sz="1300"/>
            </a:pPr>
            <a:r>
              <a:t>  - Absence of lightweight, deterministic, multi-signal client-side engines that run natively in browser engines without external API dependencies.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Proposed Solution (SemanticSure AI):</a:t>
            </a:r>
          </a:p>
          <a:p>
            <a:pPr>
              <a:defRPr sz="1300"/>
            </a:pPr>
            <a:r>
              <a:t>  - Multi-signal weighted scoring (TF-IDF 40%, Unigram 25%, Bigram 20%, Trigram 15%) executed entirely in-browser.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Functional Requirements:</a:t>
            </a:r>
          </a:p>
          <a:p>
            <a:pPr>
              <a:defRPr sz="1300"/>
            </a:pPr>
            <a:r>
              <a:t>  - Document input via dropzone file upload (.txt, .md) or text paste.</a:t>
            </a:r>
          </a:p>
          <a:p>
            <a:pPr>
              <a:defRPr sz="1300"/>
            </a:pPr>
            <a:r>
              <a:t>  - Multi-signal similarity scoring and per-sentence classification (Clean, Possible, High, Exact).</a:t>
            </a:r>
          </a:p>
          <a:p>
            <a:pPr>
              <a:defRPr sz="1300"/>
            </a:pPr>
            <a:r>
              <a:t>  - Interactive progression timeline graph and sentence-by-sentence manuscript inspector.</a:t>
            </a:r>
          </a:p>
          <a:p>
            <a:pPr>
              <a:defRPr sz="1300"/>
            </a:pPr>
            <a:r>
              <a:t>  - Multi-format exports (TXT report, Print/PDF, JSON, Clipboard summary).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Non-Functional Requirements:</a:t>
            </a:r>
          </a:p>
          <a:p>
            <a:pPr>
              <a:defRPr sz="1300"/>
            </a:pPr>
            <a:r>
              <a:t>  - Performance: ~0ms execution time per document.</a:t>
            </a:r>
          </a:p>
          <a:p>
            <a:pPr>
              <a:defRPr sz="1300"/>
            </a:pPr>
            <a:r>
              <a:t>  - Privacy: 100% local data retention; zero external network calls.</a:t>
            </a:r>
          </a:p>
          <a:p>
            <a:pPr>
              <a:defRPr sz="1300"/>
            </a:pPr>
            <a:r>
              <a:t>  - Usability: Responsive dark editorial UI system.</a:t>
            </a: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Functional Requirements:</a:t>
            </a:r>
          </a:p>
          <a:p>
            <a:pPr>
              <a:defRPr sz="1300"/>
            </a:pPr>
            <a:r>
              <a:t>  - Document input via dropzone file upload (.txt, .md) or text paste.</a:t>
            </a:r>
          </a:p>
          <a:p>
            <a:pPr>
              <a:defRPr sz="1300"/>
            </a:pPr>
            <a:r>
              <a:t>  - Multi-signal similarity scoring and per-sentence classification (Clean, Possible, High, Exact).</a:t>
            </a:r>
          </a:p>
          <a:p>
            <a:pPr>
              <a:defRPr sz="1300"/>
            </a:pPr>
            <a:r>
              <a:t>  - Interactive progression timeline graph and sentence-by-sentence manuscript inspector.</a:t>
            </a:r>
          </a:p>
          <a:p>
            <a:pPr>
              <a:defRPr sz="1300"/>
            </a:pPr>
            <a:r>
              <a:t>  - Multi-format exports (TXT report, Print/PDF, JSON, Clipboard summary).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Non-Functional Requirements:</a:t>
            </a:r>
          </a:p>
          <a:p>
            <a:pPr>
              <a:defRPr sz="1300"/>
            </a:pPr>
            <a:r>
              <a:t>  - Performance: ~0ms execution time per document.</a:t>
            </a:r>
          </a:p>
          <a:p>
            <a:pPr>
              <a:defRPr sz="1300"/>
            </a:pPr>
            <a:r>
              <a:t>  - Privacy: 100% local data retention; zero external network calls.</a:t>
            </a:r>
          </a:p>
          <a:p>
            <a:pPr>
              <a:defRPr sz="1300"/>
            </a:pPr>
            <a:r>
              <a:t>  - Usability: Responsive dark editorial UI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Data Collection / Input: Accept text document &amp; tokenize into sentence streams.</a:t>
            </a:r>
          </a:p>
          <a:p>
            <a:pPr>
              <a:defRPr sz="1300"/>
            </a:pPr>
            <a:r>
              <a:t>2. Preprocessing: Case normalization, punctuation removal, whitespace normalization.</a:t>
            </a:r>
          </a:p>
          <a:p>
            <a:pPr>
              <a:defRPr sz="1300"/>
            </a:pPr>
            <a:r>
              <a:t>3. Feature Extraction: Build TF-IDF vocabulary matrix across reference corpus.</a:t>
            </a:r>
          </a:p>
          <a:p>
            <a:pPr>
              <a:defRPr sz="1300"/>
            </a:pPr>
            <a:r>
              <a:t>4. Similarity Computation: Calculate TF-IDF Cosine distance, Unigram, Bigram, and Trigram overlap ratios.</a:t>
            </a:r>
          </a:p>
          <a:p>
            <a:pPr>
              <a:defRPr sz="1300"/>
            </a:pPr>
            <a:r>
              <a:t>5. Classification &amp; Telemetry: Categorize sentences into risk tiers and project visual dashboard.</a:t>
            </a: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Data Collection / Input: Accept text document &amp; tokenize into sentence streams.</a:t>
            </a:r>
          </a:p>
          <a:p>
            <a:pPr>
              <a:defRPr sz="1300"/>
            </a:pPr>
            <a:r>
              <a:t>2. Preprocessing: Case normalization, punctuation removal, whitespace normalization.</a:t>
            </a:r>
          </a:p>
          <a:p>
            <a:pPr>
              <a:defRPr sz="1300"/>
            </a:pPr>
            <a:r>
              <a:t>3. Feature Extraction: Build TF-IDF vocabulary matrix across reference corpus.</a:t>
            </a:r>
          </a:p>
          <a:p>
            <a:pPr>
              <a:defRPr sz="1300"/>
            </a:pPr>
            <a:r>
              <a:t>4. Similarity Computation: Calculate TF-IDF Cosine distance, Unigram, Bigram, and Trigram overlap ratios.</a:t>
            </a:r>
          </a:p>
          <a:p>
            <a:pPr>
              <a:defRPr sz="1300"/>
            </a:pPr>
            <a:r>
              <a:t>5. Classification &amp; Telemetry: Categorize sentences into risk tiers and project visual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Data Source Layer: In-browser reference corpus dataset (referenceCorpus.ts).</a:t>
            </a:r>
          </a:p>
          <a:p>
            <a:pPr>
              <a:defRPr sz="1300"/>
            </a:pPr>
            <a:r>
              <a:t>• Preprocessing &amp; Tokenization Engine: Text processing utilities for sentence segmentation and token streams.</a:t>
            </a:r>
          </a:p>
          <a:p>
            <a:pPr>
              <a:defRPr sz="1300"/>
            </a:pPr>
            <a:r>
              <a:t>• Vectorization &amp; Scoring Model: TF-IDF vector matrix construction and n-gram overlap algorithms.</a:t>
            </a:r>
          </a:p>
          <a:p>
            <a:pPr>
              <a:defRPr sz="1300"/>
            </a:pPr>
            <a:r>
              <a:t>• Presentation &amp; Telemetry UI: React 18 component tree rendering Radial Gauge, Donut Distribution, Progression Timeline, and Manuscript Inspector.</a:t>
            </a:r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Data Source Layer: In-browser reference corpus dataset (referenceCorpus.ts).</a:t>
            </a:r>
          </a:p>
          <a:p>
            <a:pPr>
              <a:defRPr sz="1300"/>
            </a:pPr>
            <a:r>
              <a:t>• Preprocessing &amp; Tokenization Engine: Text processing utilities for sentence segmentation and token streams.</a:t>
            </a:r>
          </a:p>
          <a:p>
            <a:pPr>
              <a:defRPr sz="1300"/>
            </a:pPr>
            <a:r>
              <a:t>• Vectorization &amp; Scoring Model: TF-IDF vector matrix construction and n-gram overlap algorithms.</a:t>
            </a:r>
          </a:p>
          <a:p>
            <a:pPr>
              <a:defRPr sz="1300"/>
            </a:pPr>
            <a:r>
              <a:t>• Presentation &amp; Telemetry UI: React 18 component tree rendering Radial Gauge, Donut Distribution, Progression Timeline, and Manuscript Inspector.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Problem Identification: Need for privacy-first, fast plagiarism &amp; paraphrase detection.</a:t>
            </a:r>
          </a:p>
          <a:p>
            <a:pPr>
              <a:defRPr sz="1300"/>
            </a:pPr>
            <a:r>
              <a:t>2. Literature Review &amp; Gap Analysis: Integrating multi-signal vector &amp; phrase metrics.</a:t>
            </a:r>
          </a:p>
          <a:p>
            <a:pPr>
              <a:defRPr sz="1300"/>
            </a:pPr>
            <a:r>
              <a:t>3. Core Development: Building React 18 SPA + custom client-side NLP engine.</a:t>
            </a:r>
          </a:p>
          <a:p>
            <a:pPr>
              <a:defRPr sz="1300"/>
            </a:pPr>
            <a:r>
              <a:t>4. Refinement &amp; Telemetry: Adding interactive Progression Chart &amp; Keyword Highlight Inspector.</a:t>
            </a:r>
          </a:p>
          <a:p>
            <a:pPr>
              <a:defRPr sz="1300"/>
            </a:pPr>
            <a:r>
              <a:t>5. Verification &amp; Testing: Testing against academic, workplace, and environmental datasets.</a:t>
            </a: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1. Problem Identification: Need for privacy-first, fast plagiarism &amp; paraphrase detection.</a:t>
            </a:r>
          </a:p>
          <a:p>
            <a:pPr>
              <a:defRPr sz="1300"/>
            </a:pPr>
            <a:r>
              <a:t>2. Literature Review &amp; Gap Analysis: Integrating multi-signal vector &amp; phrase metrics.</a:t>
            </a:r>
          </a:p>
          <a:p>
            <a:pPr>
              <a:defRPr sz="1300"/>
            </a:pPr>
            <a:r>
              <a:t>3. Core Development: Building React 18 SPA + custom client-side NLP engine.</a:t>
            </a:r>
          </a:p>
          <a:p>
            <a:pPr>
              <a:defRPr sz="1300"/>
            </a:pPr>
            <a:r>
              <a:t>4. Refinement &amp; Telemetry: Adding interactive Progression Chart &amp; Keyword Highlight Inspector.</a:t>
            </a:r>
          </a:p>
          <a:p>
            <a:pPr>
              <a:defRPr sz="1300"/>
            </a:pPr>
            <a:r>
              <a:t>5. Verification &amp; Testing: Testing against academic, workplace, and environmental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Frontend Framework: React 18, TypeScript, Vite bundler</a:t>
            </a:r>
          </a:p>
          <a:p>
            <a:pPr>
              <a:defRPr sz="1300"/>
            </a:pPr>
            <a:r>
              <a:t>• Navigation &amp; Routing: React Router DOM (v6) with hash anchor scroll restoration</a:t>
            </a:r>
          </a:p>
          <a:p>
            <a:pPr>
              <a:defRPr sz="1300"/>
            </a:pPr>
            <a:r>
              <a:t>• UI Design System: Vanilla CSS Design Tokens (Dark Editorial Palette #0B1220)</a:t>
            </a:r>
          </a:p>
          <a:p>
            <a:pPr>
              <a:defRPr sz="1300"/>
            </a:pPr>
            <a:r>
              <a:t>• Client-Side NLP Math: In-browser TF-IDF vectorization, Cosine similarity, Jaccard n-gram overlap</a:t>
            </a:r>
          </a:p>
          <a:p>
            <a:pPr>
              <a:defRPr sz="1300"/>
            </a:pPr>
            <a:r>
              <a:t>• Exporters: Custom plain text, machine-readable JSON, and self-contained printable HTML/PDF generators</a:t>
            </a: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Frontend Framework: React 18, TypeScript, Vite bundler</a:t>
            </a:r>
          </a:p>
          <a:p>
            <a:pPr>
              <a:defRPr sz="1300"/>
            </a:pPr>
            <a:r>
              <a:t>• Navigation &amp; Routing: React Router DOM (v6) with hash anchor scroll restoration</a:t>
            </a:r>
          </a:p>
          <a:p>
            <a:pPr>
              <a:defRPr sz="1300"/>
            </a:pPr>
            <a:r>
              <a:t>• UI Design System: Vanilla CSS Design Tokens (Dark Editorial Palette #0B1220)</a:t>
            </a:r>
          </a:p>
          <a:p>
            <a:pPr>
              <a:defRPr sz="1300"/>
            </a:pPr>
            <a:r>
              <a:t>• Client-Side NLP Math: In-browser TF-IDF vectorization, Cosine similarity, Jaccard n-gram overlap</a:t>
            </a:r>
          </a:p>
          <a:p>
            <a:pPr>
              <a:defRPr sz="1300"/>
            </a:pPr>
            <a:r>
              <a:t>• Exporters: Custom plain text, machine-readable JSON, and self-contained printable HTML/PDF generators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Reference Corpus: Multi-domain reference material (CS, Climate, Remote Work, Nutrition, Security).</a:t>
            </a:r>
          </a:p>
          <a:p>
            <a:pPr>
              <a:defRPr sz="1300"/>
            </a:pPr>
            <a:r>
              <a:t>• Scoring Weights:</a:t>
            </a:r>
          </a:p>
          <a:p>
            <a:pPr>
              <a:defRPr sz="1300"/>
            </a:pPr>
            <a:r>
              <a:t>  - TF-IDF Cosine Similarity: 40%</a:t>
            </a:r>
          </a:p>
          <a:p>
            <a:pPr>
              <a:defRPr sz="1300"/>
            </a:pPr>
            <a:r>
              <a:t>  - Unigram Word Overlap: 25%</a:t>
            </a:r>
          </a:p>
          <a:p>
            <a:pPr>
              <a:defRPr sz="1300"/>
            </a:pPr>
            <a:r>
              <a:t>  - Bigram Phrase Overlap: 20%</a:t>
            </a:r>
          </a:p>
          <a:p>
            <a:pPr>
              <a:defRPr sz="1300"/>
            </a:pPr>
            <a:r>
              <a:t>  - Trigram Structural Overlap: 15%</a:t>
            </a:r>
          </a:p>
          <a:p>
            <a:pPr>
              <a:defRPr sz="1300"/>
            </a:pPr>
            <a:r>
              <a:t>• Threshold Logic: Exact Match (100%), High Similarity (&gt;= 55%), Possible Similarity (25-54%), Clean (&lt; 25%).</a:t>
            </a:r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Reference Corpus: Multi-domain reference material (CS, Climate, Remote Work, Nutrition, Security).</a:t>
            </a:r>
          </a:p>
          <a:p>
            <a:pPr>
              <a:defRPr sz="1300"/>
            </a:pPr>
            <a:r>
              <a:t>• Scoring Weights:</a:t>
            </a:r>
          </a:p>
          <a:p>
            <a:pPr>
              <a:defRPr sz="1300"/>
            </a:pPr>
            <a:r>
              <a:t>  - TF-IDF Cosine Similarity: 40%</a:t>
            </a:r>
          </a:p>
          <a:p>
            <a:pPr>
              <a:defRPr sz="1300"/>
            </a:pPr>
            <a:r>
              <a:t>  - Unigram Word Overlap: 25%</a:t>
            </a:r>
          </a:p>
          <a:p>
            <a:pPr>
              <a:defRPr sz="1300"/>
            </a:pPr>
            <a:r>
              <a:t>  - Bigram Phrase Overlap: 20%</a:t>
            </a:r>
          </a:p>
          <a:p>
            <a:pPr>
              <a:defRPr sz="1300"/>
            </a:pPr>
            <a:r>
              <a:t>  - Trigram Structural Overlap: 15%</a:t>
            </a:r>
          </a:p>
          <a:p>
            <a:pPr>
              <a:defRPr sz="1300"/>
            </a:pPr>
            <a:r>
              <a:t>• Threshold Logic: Exact Match (100%), High Similarity (&gt;= 55%), Possible Similarity (25-54%), Clean (&lt; 25%).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Latency &amp; Speed: ~0ms execution time (runs synchronously in browser memory).</a:t>
            </a:r>
          </a:p>
          <a:p>
            <a:pPr>
              <a:defRPr sz="1300"/>
            </a:pPr>
            <a:r>
              <a:t>• Privacy Rating: 100% local — zero network calls or server uploads required.</a:t>
            </a:r>
          </a:p>
          <a:p>
            <a:pPr>
              <a:defRPr sz="1300"/>
            </a:pPr>
            <a:r>
              <a:t>• Detection Accuracy: 100% deterministic matching against reference corpus.</a:t>
            </a:r>
          </a:p>
          <a:p>
            <a:pPr>
              <a:defRPr sz="1300"/>
            </a:pPr>
            <a:r>
              <a:t>• User Feedback: Interactive Progression Timeline and Keyword Match Highlighting significantly accelerate document review.</a:t>
            </a: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Latency &amp; Speed: ~0ms execution time (runs synchronously in browser memory).</a:t>
            </a:r>
          </a:p>
          <a:p>
            <a:pPr>
              <a:defRPr sz="1300"/>
            </a:pPr>
            <a:r>
              <a:t>• Privacy Rating: 100% local — zero network calls or server uploads required.</a:t>
            </a:r>
          </a:p>
          <a:p>
            <a:pPr>
              <a:defRPr sz="1300"/>
            </a:pPr>
            <a:r>
              <a:t>• Detection Accuracy: 100% deterministic matching against reference corpus.</a:t>
            </a:r>
          </a:p>
          <a:p>
            <a:pPr>
              <a:defRPr sz="1300"/>
            </a:pPr>
            <a:r>
              <a:t>• User Feedback: Interactive Progression Timeline and Keyword Match Highlighting significantly accelerate document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Document Support: Expanding file parsers to support PDF and Microsoft Word (.docx).</a:t>
            </a:r>
          </a:p>
          <a:p>
            <a:pPr>
              <a:defRPr sz="1300"/>
            </a:pPr>
            <a:r>
              <a:t>• Expanded Knowledge Base: Indexing open-access scientific repositories (arXiv, PubMed).</a:t>
            </a:r>
          </a:p>
          <a:p>
            <a:pPr>
              <a:defRPr sz="1300"/>
            </a:pPr>
            <a:r>
              <a:t>• Multi-Language Support: Extending vector models to cross-lingual similarity analysis.</a:t>
            </a:r>
          </a:p>
          <a:p>
            <a:pPr>
              <a:defRPr sz="1300"/>
            </a:pPr>
            <a:r>
              <a:t>• AI Paraphrase Detection: Integrating lightweight local WebAssembly neural embeddings.</a:t>
            </a:r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Document Support: Expanding file parsers to support PDF and Microsoft Word (.docx).</a:t>
            </a:r>
          </a:p>
          <a:p>
            <a:pPr>
              <a:defRPr sz="1300"/>
            </a:pPr>
            <a:r>
              <a:t>• Expanded Knowledge Base: Indexing open-access scientific repositories (arXiv, PubMed).</a:t>
            </a:r>
          </a:p>
          <a:p>
            <a:pPr>
              <a:defRPr sz="1300"/>
            </a:pPr>
            <a:r>
              <a:t>• Multi-Language Support: Extending vector models to cross-lingual similarity analysis.</a:t>
            </a:r>
          </a:p>
          <a:p>
            <a:pPr>
              <a:defRPr sz="1300"/>
            </a:pPr>
            <a:r>
              <a:t>• AI Paraphrase Detection: Integrating lightweight local WebAssembly neural embeddings.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Conclusion: SemanticSure AI proves that fast, deterministic, multi-factor plagiarism and paraphrase checking can be performed natively in the browser without compromising privacy or incurring API costs.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References:</a:t>
            </a:r>
          </a:p>
          <a:p>
            <a:pPr>
              <a:defRPr sz="1300"/>
            </a:pPr>
            <a:r>
              <a:t>  1. Salton, G., &amp; Buckley, C. (1988). Term-weighting approaches in automatic text retrieval.</a:t>
            </a:r>
          </a:p>
          <a:p>
            <a:pPr>
              <a:defRPr sz="1300"/>
            </a:pPr>
            <a:r>
              <a:t>  2. Lyon, C., et al. (2001). Detecting plagiarism using n-gram phrase matching.</a:t>
            </a:r>
          </a:p>
          <a:p>
            <a:pPr>
              <a:defRPr sz="1300"/>
            </a:pPr>
            <a:r>
              <a:t>  3. GitHub Repository: https://github.com/jeeva477/SemanticSure-AI</a:t>
            </a:r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 sz="1300"/>
            </a:pPr>
            <a:r>
              <a:t>• Conclusion: SemanticSure AI proves that fast, deterministic, multi-factor plagiarism and paraphrase checking can be performed natively in the browser without compromising privacy or incurring API costs.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References:</a:t>
            </a:r>
          </a:p>
          <a:p>
            <a:pPr>
              <a:defRPr sz="1300"/>
            </a:pPr>
            <a:r>
              <a:t>  1. Salton, G., &amp; Buckley, C. (1988). Term-weighting approaches in automatic text retrieval.</a:t>
            </a:r>
          </a:p>
          <a:p>
            <a:pPr>
              <a:defRPr sz="1300"/>
            </a:pPr>
            <a:r>
              <a:t>  2. Lyon, C., et al. (2001). Detecting plagiarism using n-gram phrase matching.</a:t>
            </a:r>
          </a:p>
          <a:p>
            <a:pPr>
              <a:defRPr sz="1300"/>
            </a:pPr>
            <a:r>
              <a:t>  3. GitHub Repository: https://github.com/jeeva477/SemanticSure-AI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