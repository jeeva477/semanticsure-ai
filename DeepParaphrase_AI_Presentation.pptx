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12"/>
    <p:sldId id="257" r:id="rId13"/>
    <p:sldId id="258" r:id="rId14"/>
    <p:sldId id="259" r:id="rId15"/>
    <p:sldId id="260" r:id="rId16"/>
    <p:sldId id="261" r:id="rId17"/>
  </p:sldIdLst>
  <p:sldSz cy="6858000" cx="9144000"/>
  <p:notesSz cx="6858000" cy="9144000"/>
  <p:embeddedFontLst>
    <p:embeddedFont>
      <p:font typeface="Roboto Slab"/>
      <p:regular r:id="rId21"/>
      <p:bold r:id="rId22"/>
    </p:embeddedFont>
    <p:embeddedFont>
      <p:font typeface="Robo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21" Type="http://schemas.openxmlformats.org/officeDocument/2006/relationships/font" Target="fonts/RobotoSlab-regular.fntdata"/><Relationship Id="rId22" Type="http://schemas.openxmlformats.org/officeDocument/2006/relationships/font" Target="fonts/RobotoSlab-bold.fntdata"/><Relationship Id="rId23" Type="http://schemas.openxmlformats.org/officeDocument/2006/relationships/font" Target="fonts/Roboto-regular.fntdata"/><Relationship Id="rId24" Type="http://schemas.openxmlformats.org/officeDocument/2006/relationships/font" Target="fonts/Roboto-bold.fntdata"/><Relationship Id="rId25" Type="http://schemas.openxmlformats.org/officeDocument/2006/relationships/font" Target="fonts/Roboto-italic.fntdata"/><Relationship Id="rId26" Type="http://schemas.openxmlformats.org/officeDocument/2006/relationships/font" Target="fonts/Roboto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896808"/>
            <a:ext cx="1081625" cy="1499896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4457271"/>
            <a:ext cx="1081625" cy="1499896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3756618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585234"/>
            <a:ext cx="5783400" cy="194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4065933"/>
            <a:ext cx="5783400" cy="121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3756618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80750" y="2353267"/>
            <a:ext cx="8222100" cy="120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680378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387900" y="610700"/>
            <a:ext cx="8368200" cy="91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87900" y="1986432"/>
            <a:ext cx="8368200" cy="4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680378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387900" y="610700"/>
            <a:ext cx="8368200" cy="91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87900" y="1986433"/>
            <a:ext cx="3999900" cy="4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756200" y="1986433"/>
            <a:ext cx="3999900" cy="4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87900" y="610700"/>
            <a:ext cx="8368200" cy="91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883036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3879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87900" y="2125367"/>
            <a:ext cx="2808000" cy="357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701800"/>
            <a:ext cx="56187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100"/>
            <a:ext cx="457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5994004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612100"/>
            <a:ext cx="4045200" cy="20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3692001"/>
            <a:ext cx="4045200" cy="17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9500" y="5644967"/>
            <a:ext cx="5998800" cy="79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6769100"/>
            <a:ext cx="9143700" cy="88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87900" y="1536600"/>
            <a:ext cx="8368200" cy="205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87900" y="3892600"/>
            <a:ext cx="8368200" cy="14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1" name="Google Shape;61;p1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62" name="Google Shape;62;p1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610700"/>
            <a:ext cx="8368200" cy="91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986432"/>
            <a:ext cx="8368200" cy="4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8FAFC"/>
                </a:solidFill>
                <a:latin typeface="Source Serif 4"/>
              </a:defRPr>
            </a:pPr>
            <a:r>
              <a:t>DeepParaphrase AI</a:t>
            </a:r>
          </a:p>
          <a:p>
            <a:pPr>
              <a:spcBef>
                <a:spcPts val="1000"/>
              </a:spcBef>
              <a:defRPr sz="2200">
                <a:solidFill>
                  <a:srgbClr val="3B82F6"/>
                </a:solidFill>
                <a:latin typeface="Inter"/>
              </a:defRPr>
            </a:pPr>
            <a:r>
              <a:t>Document Originality &amp; Similarity Analysis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931920"/>
            <a:ext cx="10362895" cy="2103120"/>
          </a:xfrm>
          <a:prstGeom prst="roundRect">
            <a:avLst/>
          </a:prstGeom>
          <a:solidFill>
            <a:srgbClr val="111827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defRPr sz="1200" b="1">
                <a:solidFill>
                  <a:srgbClr val="3B82F6"/>
                </a:solidFill>
                <a:latin typeface="IBM Plex Mono"/>
              </a:defRPr>
            </a:pPr>
            <a:r>
              <a:t>PROJECT PRESENTATION • MASTER OF COMPUTER APPLICATIONS</a:t>
            </a:r>
          </a:p>
          <a:p>
            <a:pPr>
              <a:spcBef>
                <a:spcPts val="800"/>
              </a:spcBef>
              <a:defRPr sz="1600" b="1">
                <a:solidFill>
                  <a:srgbClr val="F8FAFC"/>
                </a:solidFill>
              </a:defRPr>
            </a:pPr>
            <a:r>
              <a:t>Developer: Jeeva P  |  Reg No: 2511022250069</a:t>
            </a:r>
          </a:p>
          <a:p>
            <a:pPr>
              <a:spcBef>
                <a:spcPts val="600"/>
              </a:spcBef>
              <a:defRPr sz="1400">
                <a:solidFill>
                  <a:srgbClr val="94A3B8"/>
                </a:solidFill>
              </a:defRPr>
            </a:pPr>
            <a:r>
              <a:t>GitHub: https://github.com/jeeva477/SemanticSure-AI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IBM Plex Mono"/>
              </a:defRPr>
            </a:pPr>
            <a:r>
              <a:t>DEEPPARAPHRASE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ource Serif 4"/>
              </a:defRPr>
            </a:pPr>
            <a:r>
              <a:t>Problem Statement &amp; Motivation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800" b="1">
                <a:solidFill>
                  <a:srgbClr val="F59E0B"/>
                </a:solidFill>
              </a:defRPr>
            </a:pPr>
            <a:r>
              <a:t>⚠️ Limitations of Existing Tools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</a:defRPr>
            </a:pPr>
            <a:r>
              <a:t>• Keyword-Only Matching: Bypassed by simple synonym rewrites and structural rephrasing.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</a:defRPr>
            </a:pPr>
            <a:r>
              <a:t>• Privacy &amp; Data Leaks: Sending unreleased manuscripts to third-party cloud servers risks IP theft.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</a:defRPr>
            </a:pPr>
            <a:r>
              <a:t>• Opaque Scoring: Black-box scores provide no sentence-level proof or actionable feedback.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</a:defRPr>
            </a:pPr>
            <a:r>
              <a:t>• High Latency &amp; Costs: Slow network processing with recurring subscription paywalls.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111827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800" b="1">
                <a:solidFill>
                  <a:srgbClr val="3B82F6"/>
                </a:solidFill>
              </a:defRPr>
            </a:pPr>
            <a:r>
              <a:t>🎯 The SemanticSure AI Solution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Deterministic Local Execution: 100% client-side in-browser analysis with ~0ms latency.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Multi-Signal Detection: Combines TF-IDF vector cosine distance + Unigram/Bigram/Trigram overlaps.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Manuscript Inspector: Highlights exact matching terms and provides actionable revision advice.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Complete Data Privacy: Zero network calls required; text never leaves the user's browser.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IBM Plex Mono"/>
              </a:defRPr>
            </a:pPr>
            <a:r>
              <a:t>DEEPPARAPHRASE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ource Serif 4"/>
              </a:defRPr>
            </a:pPr>
            <a:r>
              <a:t>System Architecture &amp; Analysis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698480" cy="82296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500" b="1">
                <a:solidFill>
                  <a:srgbClr val="3B82F6"/>
                </a:solidFill>
              </a:defRPr>
            </a:pPr>
            <a:r>
              <a:t>1. Input &amp; Tokenization</a:t>
            </a:r>
          </a:p>
          <a:p>
            <a:pPr>
              <a:spcBef>
                <a:spcPts val="200"/>
              </a:spcBef>
              <a:defRPr sz="1200">
                <a:solidFill>
                  <a:srgbClr val="94A3B8"/>
                </a:solidFill>
              </a:defRPr>
            </a:pPr>
            <a:r>
              <a:t>Splits document into clean sentences and normalizes token streams.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23160"/>
            <a:ext cx="10698480" cy="82296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500" b="1">
                <a:solidFill>
                  <a:srgbClr val="3B82F6"/>
                </a:solidFill>
              </a:defRPr>
            </a:pPr>
            <a:r>
              <a:t>2. Vectorization</a:t>
            </a:r>
          </a:p>
          <a:p>
            <a:pPr>
              <a:spcBef>
                <a:spcPts val="200"/>
              </a:spcBef>
              <a:defRPr sz="1200">
                <a:solidFill>
                  <a:srgbClr val="94A3B8"/>
                </a:solidFill>
              </a:defRPr>
            </a:pPr>
            <a:r>
              <a:t>Computes TF-IDF term weights against reference corpus vocabulary.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83280"/>
            <a:ext cx="10698480" cy="822960"/>
          </a:xfrm>
          <a:prstGeom prst="roundRect">
            <a:avLst/>
          </a:prstGeom>
          <a:solidFill>
            <a:srgbClr val="111827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500" b="1">
                <a:solidFill>
                  <a:srgbClr val="3B82F6"/>
                </a:solidFill>
              </a:defRPr>
            </a:pPr>
            <a:r>
              <a:t>3. Multi-Signal Scoring</a:t>
            </a:r>
          </a:p>
          <a:p>
            <a:pPr>
              <a:spcBef>
                <a:spcPts val="200"/>
              </a:spcBef>
              <a:defRPr sz="1200">
                <a:solidFill>
                  <a:srgbClr val="94A3B8"/>
                </a:solidFill>
              </a:defRPr>
            </a:pPr>
            <a:r>
              <a:t>Calculates Cosine similarity, Unigram, Bigram &amp; Trigram overlaps.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43400"/>
            <a:ext cx="10698480" cy="82296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500" b="1">
                <a:solidFill>
                  <a:srgbClr val="3B82F6"/>
                </a:solidFill>
              </a:defRPr>
            </a:pPr>
            <a:r>
              <a:t>4. Classification Engine</a:t>
            </a:r>
          </a:p>
          <a:p>
            <a:pPr>
              <a:spcBef>
                <a:spcPts val="200"/>
              </a:spcBef>
              <a:defRPr sz="1200">
                <a:solidFill>
                  <a:srgbClr val="94A3B8"/>
                </a:solidFill>
              </a:defRPr>
            </a:pPr>
            <a:r>
              <a:t>Assigns Clean, Possible, High Similarity, or Exact Match status.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303520"/>
            <a:ext cx="10698480" cy="82296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500" b="1">
                <a:solidFill>
                  <a:srgbClr val="3B82F6"/>
                </a:solidFill>
              </a:defRPr>
            </a:pPr>
            <a:r>
              <a:t>5. Telemetry &amp; Export</a:t>
            </a:r>
          </a:p>
          <a:p>
            <a:pPr>
              <a:spcBef>
                <a:spcPts val="200"/>
              </a:spcBef>
              <a:defRPr sz="1200">
                <a:solidFill>
                  <a:srgbClr val="94A3B8"/>
                </a:solidFill>
              </a:defRPr>
            </a:pPr>
            <a:r>
              <a:t>Renders interactive charts, manuscript highlights, and exports reports.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IBM Plex Mono"/>
              </a:defRPr>
            </a:pPr>
            <a:r>
              <a:t>DEEPPARAPHRASE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ource Serif 4"/>
              </a:defRPr>
            </a:pPr>
            <a:r>
              <a:t>Technology Stack &amp; Frameworks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57800" cy="214884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1600" b="1">
                <a:solidFill>
                  <a:srgbClr val="3B82F6"/>
                </a:solidFill>
              </a:defRPr>
            </a:pPr>
            <a:r>
              <a:t>Frontend &amp; UI Framework</a:t>
            </a:r>
          </a:p>
          <a:p>
            <a:pPr>
              <a:spcBef>
                <a:spcPts val="600"/>
              </a:spcBef>
              <a:defRPr sz="1300" b="1">
                <a:solidFill>
                  <a:srgbClr val="10B981"/>
                </a:solidFill>
              </a:defRPr>
            </a:pPr>
            <a:r>
              <a:t>Tech: React 18, TypeScript, Vite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Modern component-driven architecture with strict type safety and fast HMR bundling.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463040"/>
            <a:ext cx="5257800" cy="214884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1600" b="1">
                <a:solidFill>
                  <a:srgbClr val="3B82F6"/>
                </a:solidFill>
              </a:defRPr>
            </a:pPr>
            <a:r>
              <a:t>Routing &amp; Navigation</a:t>
            </a:r>
          </a:p>
          <a:p>
            <a:pPr>
              <a:spcBef>
                <a:spcPts val="600"/>
              </a:spcBef>
              <a:defRPr sz="1300" b="1">
                <a:solidFill>
                  <a:srgbClr val="10B981"/>
                </a:solidFill>
              </a:defRPr>
            </a:pPr>
            <a:r>
              <a:t>Tech: React Router DOM (v6)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Client-side routing with hash scroll restoration across landing and tool pages.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5257800" cy="214884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1600" b="1">
                <a:solidFill>
                  <a:srgbClr val="3B82F6"/>
                </a:solidFill>
              </a:defRPr>
            </a:pPr>
            <a:r>
              <a:t>Design &amp; Styling</a:t>
            </a:r>
          </a:p>
          <a:p>
            <a:pPr>
              <a:spcBef>
                <a:spcPts val="600"/>
              </a:spcBef>
              <a:defRPr sz="1300" b="1">
                <a:solidFill>
                  <a:srgbClr val="10B981"/>
                </a:solidFill>
              </a:defRPr>
            </a:pPr>
            <a:r>
              <a:t>Tech: Vanilla CSS Design Tokens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Custom dark editorial design palette (#0B1220 background, Source Serif 4 &amp; IBM Plex Mono).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840480"/>
            <a:ext cx="5257800" cy="214884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1600" b="1">
                <a:solidFill>
                  <a:srgbClr val="3B82F6"/>
                </a:solidFill>
              </a:defRPr>
            </a:pPr>
            <a:r>
              <a:t>Local NLP Engine</a:t>
            </a:r>
          </a:p>
          <a:p>
            <a:pPr>
              <a:spcBef>
                <a:spcPts val="600"/>
              </a:spcBef>
              <a:defRPr sz="1300" b="1">
                <a:solidFill>
                  <a:srgbClr val="10B981"/>
                </a:solidFill>
              </a:defRPr>
            </a:pPr>
            <a:r>
              <a:t>Tech: TF-IDF + Cosine Distance Math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In-browser text tokenization, sentence segmentation, Jaccard n-gram overlap &amp; cosine similarity.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IBM Plex Mono"/>
              </a:defRPr>
            </a:pPr>
            <a:r>
              <a:t>DEEPPARAPHRASE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ource Serif 4"/>
              </a:defRPr>
            </a:pPr>
            <a:r>
              <a:t>Key Features &amp; Telemetry Dashboard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698480" cy="4663440"/>
          </a:xfrm>
          <a:prstGeom prst="roundRect">
            <a:avLst/>
          </a:prstGeom>
          <a:solidFill>
            <a:srgbClr val="111827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defRPr sz="1800" b="1">
                <a:solidFill>
                  <a:srgbClr val="3B82F6"/>
                </a:solidFill>
              </a:defRPr>
            </a:pPr>
            <a:r>
              <a:t>🌟 Core Application Capabilities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Radial Originality Gauge: Provides an instant composite originality score with risk level indicators.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Sentence Distribution Donut Chart: Visualizes exact proportions of Clean, Possible, High Similarity, and Exact Match sentences.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Interactive Progression Timeline: Clickable bar chart displaying sentence-by-sentence similarity progression linked to inspector.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Manuscript Inspector &amp; Match Highlighting: Shows matched source text, exact keyword highlights, evaluation rationale, and recommended revisions.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One-Click Demo Presets &amp; Multi-Format Exports: Includes Academic, Workplace, and Environmental presets; exports to TXT, Print/PDF, and JSON.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IBM Plex Mono"/>
              </a:defRPr>
            </a:pPr>
            <a:r>
              <a:t>DEEPPARAPHRASE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ource Serif 4"/>
              </a:defRPr>
            </a:pPr>
            <a:r>
              <a:t>Results, Metrics &amp; Repository Link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📊 Performance Metrics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Execution Latency: ~0ms client-side processing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Detection Accuracy: 100% deterministic against reference corpus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Signal Weighting: TF-IDF 40% | Word 25% | Bigram 20% | Trigram 15%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Privacy Rating: 100% local — Zero external API calls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Memory Footprint: Lightweight (~250 KB bundled asset size)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111827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800" b="1">
                <a:solidFill>
                  <a:srgbClr val="3B82F6"/>
                </a:solidFill>
              </a:defRPr>
            </a:pPr>
            <a:r>
              <a:t>🔗 GitHub &amp; Project Links</a:t>
            </a:r>
          </a:p>
          <a:p>
            <a:pPr>
              <a:spcBef>
                <a:spcPts val="600"/>
              </a:spcBef>
              <a:defRPr sz="1300" b="1">
                <a:solidFill>
                  <a:srgbClr val="94A3B8"/>
                </a:solidFill>
              </a:defRPr>
            </a:pPr>
            <a:r>
              <a:t>GitHub Repository:</a:t>
            </a:r>
          </a:p>
          <a:p>
            <a:pPr>
              <a:spcBef>
                <a:spcPts val="600"/>
              </a:spcBef>
              <a:defRPr sz="1100" b="1">
                <a:solidFill>
                  <a:srgbClr val="10B981"/>
                </a:solidFill>
              </a:defRPr>
            </a:pPr>
            <a:r>
              <a:t>https://github.com/jeeva477/SemanticSure-AI</a:t>
            </a:r>
          </a:p>
          <a:p>
            <a:pPr>
              <a:spcBef>
                <a:spcPts val="600"/>
              </a:spcBef>
              <a:defRPr sz="1300" b="0">
                <a:solidFill>
                  <a:srgbClr val="94A3B8"/>
                </a:solidFill>
              </a:defRPr>
            </a:pPr>
          </a:p>
          <a:p>
            <a:pPr>
              <a:spcBef>
                <a:spcPts val="600"/>
              </a:spcBef>
              <a:defRPr sz="1300" b="1">
                <a:solidFill>
                  <a:srgbClr val="94A3B8"/>
                </a:solidFill>
              </a:defRPr>
            </a:pPr>
            <a:r>
              <a:t>Local Development URL:</a:t>
            </a:r>
          </a:p>
          <a:p>
            <a:pPr>
              <a:spcBef>
                <a:spcPts val="600"/>
              </a:spcBef>
              <a:defRPr sz="1100" b="1">
                <a:solidFill>
                  <a:srgbClr val="10B981"/>
                </a:solidFill>
              </a:defRPr>
            </a:pPr>
            <a:r>
              <a:t>http://localhost:5173/analyze</a:t>
            </a:r>
          </a:p>
          <a:p>
            <a:pPr>
              <a:spcBef>
                <a:spcPts val="600"/>
              </a:spcBef>
              <a:defRPr sz="1300" b="0">
                <a:solidFill>
                  <a:srgbClr val="94A3B8"/>
                </a:solidFill>
              </a:defRPr>
            </a:pPr>
          </a:p>
          <a:p>
            <a:pPr>
              <a:spcBef>
                <a:spcPts val="600"/>
              </a:spcBef>
              <a:defRPr sz="1300" b="1">
                <a:solidFill>
                  <a:srgbClr val="94A3B8"/>
                </a:solidFill>
              </a:defRPr>
            </a:pPr>
            <a:r>
              <a:t>Status: Fully Built, Upgraded &amp; Deployed on GitHub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